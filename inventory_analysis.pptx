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ventory analysis" id="{dff70569-488a-41e6-a276-93da49914e0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937"/>
                </a:solidFill>
                <a:latin typeface="+mn-lt"/>
              </a:rPr>
              <a:t>The 39 lira products, by ABC class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Ranked across all products in USD</c:v>
                </c:pt>
              </c:strCache>
            </c:strRef>
          </c:tx>
          <c:spPr>
            <a:solidFill>
              <a:srgbClr val="E859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Class A</c:v>
                  </c:pt>
                  <c:pt idx="1">
                    <c:v>Class B</c:v>
                  </c:pt>
                  <c:pt idx="2">
                    <c:v>Class 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Ranked within each currency</c:v>
                </c:pt>
              </c:strCache>
            </c:strRef>
          </c:tx>
          <c:spPr>
            <a:solidFill>
              <a:srgbClr val="2F6F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Class A</c:v>
                  </c:pt>
                  <c:pt idx="1">
                    <c:v>Class B</c:v>
                  </c:pt>
                  <c:pt idx="2">
                    <c:v>Class C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21</c:v>
                </c:pt>
                <c:pt idx="1">
                  <c:v>10</c:v>
                </c:pt>
                <c:pt idx="2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7415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937"/>
                </a:solidFill>
                <a:latin typeface="+mn-lt"/>
              </a:rPr>
              <a:t>Average lead time (days)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lead time (days)</c:v>
                </c:pt>
              </c:strCache>
            </c:strRef>
          </c:tx>
          <c:spPr>
            <a:solidFill>
              <a:srgbClr val="E8590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Supplier 3</c:v>
                  </c:pt>
                  <c:pt idx="1">
                    <c:v>Supplier 4</c:v>
                  </c:pt>
                  <c:pt idx="2">
                    <c:v>Supplier 10</c:v>
                  </c:pt>
                  <c:pt idx="3">
                    <c:v>Supplier 12</c:v>
                  </c:pt>
                  <c:pt idx="4">
                    <c:v>Supplier X</c:v>
                  </c:pt>
                  <c:pt idx="5">
                    <c:v>Supplier Y</c:v>
                  </c:pt>
                  <c:pt idx="6">
                    <c:v>Supplier 7</c:v>
                  </c:pt>
                  <c:pt idx="7">
                    <c:v>Supplier 11</c:v>
                  </c:pt>
                  <c:pt idx="8">
                    <c:v>Supplier 8</c:v>
                  </c:pt>
                  <c:pt idx="9">
                    <c:v>Supplier 5</c:v>
                  </c:pt>
                  <c:pt idx="10">
                    <c:v>Supplier 6</c:v>
                  </c:pt>
                  <c:pt idx="11">
                    <c:v>Supplier 9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19.96</c:v>
                </c:pt>
                <c:pt idx="1">
                  <c:v>19.84</c:v>
                </c:pt>
                <c:pt idx="2">
                  <c:v>17.56</c:v>
                </c:pt>
                <c:pt idx="3">
                  <c:v>15.23</c:v>
                </c:pt>
                <c:pt idx="4">
                  <c:v>14.3</c:v>
                </c:pt>
                <c:pt idx="5">
                  <c:v>10.24</c:v>
                </c:pt>
                <c:pt idx="6">
                  <c:v>7.81</c:v>
                </c:pt>
                <c:pt idx="7">
                  <c:v>7.71</c:v>
                </c:pt>
                <c:pt idx="8">
                  <c:v>7.4</c:v>
                </c:pt>
                <c:pt idx="9">
                  <c:v>6.82</c:v>
                </c:pt>
                <c:pt idx="10">
                  <c:v>6.42</c:v>
                </c:pt>
                <c:pt idx="11">
                  <c:v>5.62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937"/>
                </a:solidFill>
                <a:latin typeface="+mn-lt"/>
              </a:rPr>
              <a:t>Average days at zero stock per product, 2025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Days at zero stock</c:v>
                </c:pt>
              </c:strCache>
            </c:strRef>
          </c:tx>
          <c:spPr>
            <a:solidFill>
              <a:srgbClr val="E8590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6F8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Slow suppliers (33 products)</c:v>
                  </c:pt>
                  <c:pt idx="1">
                    <c:v>Other suppliers (87 products)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</c:v>
                </c:pt>
                <c:pt idx="1">
                  <c:v>3.2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 pitch: I analysed a synthetic supply chain dataset to find which products matter, which suppliers cause problems, and how much stock to 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this project: logistics analyst roles ask for inventory, replenishment and supplier analysis. This is one question that covers all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the data is synthetic and that the results were verified two ways.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A is 79% of revenue. The currency effect is a quirk of how the data was generated, not product importance.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time variation matters as much as the average, because it drives safety stock.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Safety stock = Z x square root of (lead time x demand variance + demand squared x lead time variance).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to explain correlation versus cause, and that the formula is a benchmark, not a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to explain the trade-off: more stock means more cash tied up. Next step is to estimate holding cost from product cost and holding cost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Pages: which products matter, supplier reliability, reorder points vs stockouts. Show the live report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 the limitations first; interviewers respect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74980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6766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1D5DB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Inventory and supplier analysis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1D5DB"/>
                </a:solidFill>
              </a:rPr>
              <a:t>Which products matter, which suppliers hurt, and how much stock to hold. Synthetic supply chain data, 2025. SQL, Excel and Power BI.</a:t>
            </a:r>
            <a:endParaRPr lang="en-US" sz="1800" dirty="0"/>
          </a:p>
        </p:txBody>
      </p:sp>
      <p:sp>
        <p:nvSpPr>
          <p:cNvPr id="4" name="Circle"/>
          <p:cNvSpPr/>
          <p:nvPr/>
        </p:nvSpPr>
        <p:spPr>
          <a:xfrm>
            <a:off x="6583680" y="2651760"/>
            <a:ext cx="3291840" cy="3291840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business problem</a:t>
            </a:r>
            <a:endParaRPr lang="en-US" sz="3600" dirty="0"/>
          </a:p>
        </p:txBody>
      </p:sp>
      <p:sp>
        <p:nvSpPr>
          <p:cNvPr id="3" name="Takeaway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Stock runs short on some products. The company needs to know which, why, and what to change.</a:t>
            </a:r>
            <a:endParaRPr lang="en-US" sz="1600" dirty="0"/>
          </a:p>
        </p:txBody>
      </p:sp>
      <p:sp>
        <p:nvSpPr>
          <p:cNvPr id="4" name="Card Situation"/>
          <p:cNvSpPr/>
          <p:nvPr/>
        </p:nvSpPr>
        <p:spPr>
          <a:xfrm>
            <a:off x="457200" y="1645920"/>
            <a:ext cx="2651760" cy="29260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Head Situation"/>
          <p:cNvSpPr txBox="1"/>
          <p:nvPr/>
        </p:nvSpPr>
        <p:spPr>
          <a:xfrm>
            <a:off x="685800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Situation</a:t>
            </a:r>
            <a:endParaRPr lang="en-US" sz="2000" dirty="0"/>
          </a:p>
        </p:txBody>
      </p:sp>
      <p:sp>
        <p:nvSpPr>
          <p:cNvPr id="6" name="Body Situation"/>
          <p:cNvSpPr txBox="1"/>
          <p:nvPr/>
        </p:nvSpPr>
        <p:spPr>
          <a:xfrm>
            <a:off x="685800" y="233172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120 products from 12 suppliers. In 2025 products spent 1,238 days at zero stock, and every supplier delivered slower than planned.</a:t>
            </a:r>
            <a:endParaRPr lang="en-US" sz="1400" dirty="0"/>
          </a:p>
        </p:txBody>
      </p:sp>
      <p:sp>
        <p:nvSpPr>
          <p:cNvPr id="7" name="Card Question"/>
          <p:cNvSpPr/>
          <p:nvPr/>
        </p:nvSpPr>
        <p:spPr>
          <a:xfrm>
            <a:off x="3246120" y="1645920"/>
            <a:ext cx="2651760" cy="29260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Head Question"/>
          <p:cNvSpPr txBox="1"/>
          <p:nvPr/>
        </p:nvSpPr>
        <p:spPr>
          <a:xfrm>
            <a:off x="3474720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Question</a:t>
            </a:r>
            <a:endParaRPr lang="en-US" sz="2000" dirty="0"/>
          </a:p>
        </p:txBody>
      </p:sp>
      <p:sp>
        <p:nvSpPr>
          <p:cNvPr id="9" name="Body Question"/>
          <p:cNvSpPr txBox="1"/>
          <p:nvPr/>
        </p:nvSpPr>
        <p:spPr>
          <a:xfrm>
            <a:off x="3474720" y="233172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Which products matter most, which suppliers cause the problem, and at what stock level should each product be reordered?</a:t>
            </a:r>
            <a:endParaRPr lang="en-US" sz="1400" dirty="0"/>
          </a:p>
        </p:txBody>
      </p:sp>
      <p:sp>
        <p:nvSpPr>
          <p:cNvPr id="10" name="Card Who uses it"/>
          <p:cNvSpPr/>
          <p:nvPr/>
        </p:nvSpPr>
        <p:spPr>
          <a:xfrm>
            <a:off x="6035040" y="1645920"/>
            <a:ext cx="2651760" cy="29260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Head Who uses it"/>
          <p:cNvSpPr txBox="1"/>
          <p:nvPr/>
        </p:nvSpPr>
        <p:spPr>
          <a:xfrm>
            <a:off x="6263640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Who uses it</a:t>
            </a:r>
            <a:endParaRPr lang="en-US" sz="2000" dirty="0"/>
          </a:p>
        </p:txBody>
      </p:sp>
      <p:sp>
        <p:nvSpPr>
          <p:cNvPr id="12" name="Body Who uses it"/>
          <p:cNvSpPr txBox="1"/>
          <p:nvPr/>
        </p:nvSpPr>
        <p:spPr>
          <a:xfrm>
            <a:off x="6263640" y="233172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Inventory planning and procurement: where to focus, which suppliers to challenge, and what to change.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Data and approach</a:t>
            </a:r>
            <a:endParaRPr lang="en-US" sz="3600" dirty="0"/>
          </a:p>
        </p:txBody>
      </p:sp>
      <p:sp>
        <p:nvSpPr>
          <p:cNvPr id="3" name="Takeaway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synthetic one-year dataset, built and checked twice: Excel first, then SQL.</a:t>
            </a:r>
            <a:endParaRPr lang="en-US" sz="1600" dirty="0"/>
          </a:p>
        </p:txBody>
      </p:sp>
      <p:sp>
        <p:nvSpPr>
          <p:cNvPr id="4" name="Stat products"/>
          <p:cNvSpPr/>
          <p:nvPr/>
        </p:nvSpPr>
        <p:spPr>
          <a:xfrm>
            <a:off x="457200" y="1645920"/>
            <a:ext cx="1920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Value products"/>
          <p:cNvSpPr txBox="1"/>
          <p:nvPr/>
        </p:nvSpPr>
        <p:spPr>
          <a:xfrm>
            <a:off x="457200" y="1737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120</a:t>
            </a:r>
            <a:endParaRPr lang="en-US" sz="3600" dirty="0"/>
          </a:p>
        </p:txBody>
      </p:sp>
      <p:sp>
        <p:nvSpPr>
          <p:cNvPr id="6" name="Label products"/>
          <p:cNvSpPr txBox="1"/>
          <p:nvPr/>
        </p:nvSpPr>
        <p:spPr>
          <a:xfrm>
            <a:off x="457200" y="2377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products</a:t>
            </a:r>
            <a:endParaRPr lang="en-US" sz="1400" dirty="0"/>
          </a:p>
        </p:txBody>
      </p:sp>
      <p:sp>
        <p:nvSpPr>
          <p:cNvPr id="7" name="Stat suppliers"/>
          <p:cNvSpPr/>
          <p:nvPr/>
        </p:nvSpPr>
        <p:spPr>
          <a:xfrm>
            <a:off x="2560320" y="1645920"/>
            <a:ext cx="1920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Value suppliers"/>
          <p:cNvSpPr txBox="1"/>
          <p:nvPr/>
        </p:nvSpPr>
        <p:spPr>
          <a:xfrm>
            <a:off x="2560320" y="1737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12</a:t>
            </a:r>
            <a:endParaRPr lang="en-US" sz="3600" dirty="0"/>
          </a:p>
        </p:txBody>
      </p:sp>
      <p:sp>
        <p:nvSpPr>
          <p:cNvPr id="9" name="Label suppliers"/>
          <p:cNvSpPr txBox="1"/>
          <p:nvPr/>
        </p:nvSpPr>
        <p:spPr>
          <a:xfrm>
            <a:off x="2560320" y="2377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suppliers</a:t>
            </a:r>
            <a:endParaRPr lang="en-US" sz="1400" dirty="0"/>
          </a:p>
        </p:txBody>
      </p:sp>
      <p:sp>
        <p:nvSpPr>
          <p:cNvPr id="10" name="Stat sales lines"/>
          <p:cNvSpPr/>
          <p:nvPr/>
        </p:nvSpPr>
        <p:spPr>
          <a:xfrm>
            <a:off x="4663440" y="1645920"/>
            <a:ext cx="1920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Value sales lines"/>
          <p:cNvSpPr txBox="1"/>
          <p:nvPr/>
        </p:nvSpPr>
        <p:spPr>
          <a:xfrm>
            <a:off x="4663440" y="1737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42,204</a:t>
            </a:r>
            <a:endParaRPr lang="en-US" sz="3600" dirty="0"/>
          </a:p>
        </p:txBody>
      </p:sp>
      <p:sp>
        <p:nvSpPr>
          <p:cNvPr id="12" name="Label sales lines"/>
          <p:cNvSpPr txBox="1"/>
          <p:nvPr/>
        </p:nvSpPr>
        <p:spPr>
          <a:xfrm>
            <a:off x="4663440" y="2377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sales lines</a:t>
            </a:r>
            <a:endParaRPr lang="en-US" sz="1400" dirty="0"/>
          </a:p>
        </p:txBody>
      </p:sp>
      <p:sp>
        <p:nvSpPr>
          <p:cNvPr id="13" name="Stat purchase lines"/>
          <p:cNvSpPr/>
          <p:nvPr/>
        </p:nvSpPr>
        <p:spPr>
          <a:xfrm>
            <a:off x="6766560" y="1645920"/>
            <a:ext cx="1920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Value purchase lines"/>
          <p:cNvSpPr txBox="1"/>
          <p:nvPr/>
        </p:nvSpPr>
        <p:spPr>
          <a:xfrm>
            <a:off x="6766560" y="1737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3,159</a:t>
            </a:r>
            <a:endParaRPr lang="en-US" sz="3600" dirty="0"/>
          </a:p>
        </p:txBody>
      </p:sp>
      <p:sp>
        <p:nvSpPr>
          <p:cNvPr id="15" name="Label purchase lines"/>
          <p:cNvSpPr txBox="1"/>
          <p:nvPr/>
        </p:nvSpPr>
        <p:spPr>
          <a:xfrm>
            <a:off x="6766560" y="2377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purchase lines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2461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Source: Kaggle, synthetic. Imported into MySQL, validated, then analysed in SQL (Excel for the first pass)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Net revenue in USD: prices come in three currencies (EUR, TRY, USD), converted at fixed rates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result built in Excel, rebuilt in SQL and matched (revenue within 3 cents). Mistakes caught by sanity checks are logged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Which products matter</a:t>
            </a:r>
            <a:endParaRPr lang="en-US" sz="3600" dirty="0"/>
          </a:p>
        </p:txBody>
      </p:sp>
      <p:sp>
        <p:nvSpPr>
          <p:cNvPr id="3" name="Takeaway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Ranking revenue in USD pushed every lira product into class C. Ranking within each currency fixed it.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00200"/>
          <a:ext cx="5120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852160" y="169164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All 39 lira products fell into class C: 300 lira is only a few dollars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Within each currency: A 62, B 32, C 26 products. 37 products changed class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Matches the dataset’s own classes for 110 of 120 products; all 10 differences are one class apart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Suppliers: slow and unsteady</a:t>
            </a:r>
            <a:endParaRPr lang="en-US" sz="3600" dirty="0"/>
          </a:p>
        </p:txBody>
      </p:sp>
      <p:sp>
        <p:nvSpPr>
          <p:cNvPr id="3" name="Takeaway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Four suppliers take 15 to 20 days and vary widely. Every supplier is slower than planned.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852160" y="16459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Slow four (orange): standard deviation 12 to 14 days, waits up to 45 days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supplier is 1.5 to 4.7 days slower than planned, on average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Labels mislead: “Fast/Exp” Supplier X averages 14.3 days, “Slow/Chp” Y 10.2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X’s worst quarter: Q2, only 56% of lines delivered in full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Reorder point: product 64</a:t>
            </a:r>
            <a:endParaRPr lang="en-US" sz="3600" dirty="0"/>
          </a:p>
        </p:txBody>
      </p:sp>
      <p:sp>
        <p:nvSpPr>
          <p:cNvPr id="3" name="Takeaway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Reorder when stock plus orders on the way falls to about 263 units, at a 98% service level.</a:t>
            </a:r>
            <a:endParaRPr lang="en-US" sz="1600" dirty="0"/>
          </a:p>
        </p:txBody>
      </p:sp>
      <p:sp>
        <p:nvSpPr>
          <p:cNvPr id="4" name="Eq 0"/>
          <p:cNvSpPr/>
          <p:nvPr/>
        </p:nvSpPr>
        <p:spPr>
          <a:xfrm>
            <a:off x="457200" y="1645920"/>
            <a:ext cx="22860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qValue 0"/>
          <p:cNvSpPr txBox="1"/>
          <p:nvPr/>
        </p:nvSpPr>
        <p:spPr>
          <a:xfrm>
            <a:off x="457200" y="1737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105</a:t>
            </a:r>
            <a:endParaRPr lang="en-US" sz="3600" dirty="0"/>
          </a:p>
        </p:txBody>
      </p:sp>
      <p:sp>
        <p:nvSpPr>
          <p:cNvPr id="6" name="EqLabel 0"/>
          <p:cNvSpPr txBox="1"/>
          <p:nvPr/>
        </p:nvSpPr>
        <p:spPr>
          <a:xfrm>
            <a:off x="54864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units sold while waiting for delivery</a:t>
            </a:r>
            <a:endParaRPr lang="en-US" sz="1400" dirty="0"/>
          </a:p>
        </p:txBody>
      </p:sp>
      <p:sp>
        <p:nvSpPr>
          <p:cNvPr id="7" name="Eq 1"/>
          <p:cNvSpPr/>
          <p:nvPr/>
        </p:nvSpPr>
        <p:spPr>
          <a:xfrm>
            <a:off x="3200400" y="1645920"/>
            <a:ext cx="22860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EqValue 1"/>
          <p:cNvSpPr txBox="1"/>
          <p:nvPr/>
        </p:nvSpPr>
        <p:spPr>
          <a:xfrm>
            <a:off x="3200400" y="1737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158</a:t>
            </a:r>
            <a:endParaRPr lang="en-US" sz="3600" dirty="0"/>
          </a:p>
        </p:txBody>
      </p:sp>
      <p:sp>
        <p:nvSpPr>
          <p:cNvPr id="9" name="EqLabel 1"/>
          <p:cNvSpPr txBox="1"/>
          <p:nvPr/>
        </p:nvSpPr>
        <p:spPr>
          <a:xfrm>
            <a:off x="329184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units of safety stock</a:t>
            </a:r>
            <a:endParaRPr lang="en-US" sz="1400" dirty="0"/>
          </a:p>
        </p:txBody>
      </p:sp>
      <p:sp>
        <p:nvSpPr>
          <p:cNvPr id="10" name="Eq 2"/>
          <p:cNvSpPr/>
          <p:nvPr/>
        </p:nvSpPr>
        <p:spPr>
          <a:xfrm>
            <a:off x="5943600" y="1645920"/>
            <a:ext cx="2743200" cy="13716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EqValue 2"/>
          <p:cNvSpPr txBox="1"/>
          <p:nvPr/>
        </p:nvSpPr>
        <p:spPr>
          <a:xfrm>
            <a:off x="5943600" y="1737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263</a:t>
            </a:r>
            <a:endParaRPr lang="en-US" sz="3600" dirty="0"/>
          </a:p>
        </p:txBody>
      </p:sp>
      <p:sp>
        <p:nvSpPr>
          <p:cNvPr id="12" name="EqLabel 2"/>
          <p:cNvSpPr txBox="1"/>
          <p:nvPr/>
        </p:nvSpPr>
        <p:spPr>
          <a:xfrm>
            <a:off x="6035040" y="2377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units: the reorder point</a:t>
            </a:r>
            <a:endParaRPr lang="en-US" sz="1400" dirty="0"/>
          </a:p>
        </p:txBody>
      </p:sp>
      <p:sp>
        <p:nvSpPr>
          <p:cNvPr id="13" name="Plus"/>
          <p:cNvSpPr txBox="1"/>
          <p:nvPr/>
        </p:nvSpPr>
        <p:spPr>
          <a:xfrm>
            <a:off x="2743200" y="19202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+</a:t>
            </a:r>
            <a:endParaRPr lang="en-US" sz="3200" dirty="0"/>
          </a:p>
        </p:txBody>
      </p:sp>
      <p:sp>
        <p:nvSpPr>
          <p:cNvPr id="14" name="Equals"/>
          <p:cNvSpPr txBox="1"/>
          <p:nvPr/>
        </p:nvSpPr>
        <p:spPr>
          <a:xfrm>
            <a:off x="5486400" y="19202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=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3375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Inputs: demand 15.3 a day (SD 6.4), lead time 6.9 days (SD 4.9)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About 95% of the variance behind the safety stock comes from lead time, not demand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Product 64 never ran out in 2025. The full table, using supplier-level lead time, gives 244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key finding</a:t>
            </a:r>
            <a:endParaRPr lang="en-US" sz="3600" dirty="0"/>
          </a:p>
        </p:txBody>
      </p:sp>
      <p:sp>
        <p:nvSpPr>
          <p:cNvPr id="3" name="Takeaway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Products from the four slowest suppliers run out about nine times as often.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00200"/>
          <a:ext cx="4572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303520" y="1691640"/>
            <a:ext cx="3383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They need 42 days of sales on hand at reorder, against 17 for the rest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All 10 products with the most stockout days have one of these four suppliers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Recommendation: raise their reorder points, and push the four suppliers for steadier deliveries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Link is strong (correlation 0.73) but not proof of cause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Recommendations</a:t>
            </a:r>
            <a:endParaRPr lang="en-US" sz="3600" dirty="0"/>
          </a:p>
        </p:txBody>
      </p:sp>
      <p:sp>
        <p:nvSpPr>
          <p:cNvPr id="3" name="Takeaway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Four actions in priority order. Trade-off: higher reorder points tie up cash, and that cost is not yet priced.</a:t>
            </a:r>
            <a:endParaRPr lang="en-US" sz="1600" dirty="0"/>
          </a:p>
        </p:txBody>
      </p:sp>
      <p:sp>
        <p:nvSpPr>
          <p:cNvPr id="4" name="Row 1"/>
          <p:cNvSpPr/>
          <p:nvPr/>
        </p:nvSpPr>
        <p:spPr>
          <a:xfrm>
            <a:off x="457200" y="1600200"/>
            <a:ext cx="822960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 1"/>
          <p:cNvSpPr/>
          <p:nvPr/>
        </p:nvSpPr>
        <p:spPr>
          <a:xfrm>
            <a:off x="594360" y="1728216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 1"/>
          <p:cNvSpPr txBox="1"/>
          <p:nvPr/>
        </p:nvSpPr>
        <p:spPr>
          <a:xfrm>
            <a:off x="594360" y="1728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Action 1"/>
          <p:cNvSpPr txBox="1"/>
          <p:nvPr/>
        </p:nvSpPr>
        <p:spPr>
          <a:xfrm>
            <a:off x="1188720" y="164592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Raise reorder points on the 33 products from suppliers 3, 4, 10 and 12, starting with the 18 class A items</a:t>
            </a:r>
            <a:endParaRPr lang="en-US" sz="1400" dirty="0"/>
          </a:p>
        </p:txBody>
      </p:sp>
      <p:sp>
        <p:nvSpPr>
          <p:cNvPr id="8" name="Measure 1"/>
          <p:cNvSpPr txBox="1"/>
          <p:nvPr/>
        </p:nvSpPr>
        <p:spPr>
          <a:xfrm>
            <a:off x="6217920" y="16459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Measure: Days at zero stock</a:t>
            </a:r>
            <a:endParaRPr lang="en-US" sz="1200" dirty="0"/>
          </a:p>
        </p:txBody>
      </p:sp>
      <p:sp>
        <p:nvSpPr>
          <p:cNvPr id="9" name="Row 2"/>
          <p:cNvSpPr/>
          <p:nvPr/>
        </p:nvSpPr>
        <p:spPr>
          <a:xfrm>
            <a:off x="457200" y="2377440"/>
            <a:ext cx="822960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594360" y="2505456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Num 2"/>
          <p:cNvSpPr txBox="1"/>
          <p:nvPr/>
        </p:nvSpPr>
        <p:spPr>
          <a:xfrm>
            <a:off x="594360" y="2505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Action 2"/>
          <p:cNvSpPr txBox="1"/>
          <p:nvPr/>
        </p:nvSpPr>
        <p:spPr>
          <a:xfrm>
            <a:off x="1188720" y="242316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Ask the four suppliers for steadier deliveries, and review Supplier X</a:t>
            </a:r>
            <a:endParaRPr lang="en-US" sz="1400" dirty="0"/>
          </a:p>
        </p:txBody>
      </p:sp>
      <p:sp>
        <p:nvSpPr>
          <p:cNvPr id="13" name="Measure 2"/>
          <p:cNvSpPr txBox="1"/>
          <p:nvPr/>
        </p:nvSpPr>
        <p:spPr>
          <a:xfrm>
            <a:off x="6217920" y="24231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Measure: Lead time SD, lines in full</a:t>
            </a:r>
            <a:endParaRPr lang="en-US" sz="1200" dirty="0"/>
          </a:p>
        </p:txBody>
      </p:sp>
      <p:sp>
        <p:nvSpPr>
          <p:cNvPr id="14" name="Row 3"/>
          <p:cNvSpPr/>
          <p:nvPr/>
        </p:nvSpPr>
        <p:spPr>
          <a:xfrm>
            <a:off x="457200" y="3154680"/>
            <a:ext cx="822960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Badge 3"/>
          <p:cNvSpPr/>
          <p:nvPr/>
        </p:nvSpPr>
        <p:spPr>
          <a:xfrm>
            <a:off x="594360" y="3282696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Num 3"/>
          <p:cNvSpPr txBox="1"/>
          <p:nvPr/>
        </p:nvSpPr>
        <p:spPr>
          <a:xfrm>
            <a:off x="594360" y="3282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Action 3"/>
          <p:cNvSpPr txBox="1"/>
          <p:nvPr/>
        </p:nvSpPr>
        <p:spPr>
          <a:xfrm>
            <a:off x="1188720" y="320040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Plan with actual lead times, not planned ones</a:t>
            </a:r>
            <a:endParaRPr lang="en-US" sz="1400" dirty="0"/>
          </a:p>
        </p:txBody>
      </p:sp>
      <p:sp>
        <p:nvSpPr>
          <p:cNvPr id="18" name="Measure 3"/>
          <p:cNvSpPr txBox="1"/>
          <p:nvPr/>
        </p:nvSpPr>
        <p:spPr>
          <a:xfrm>
            <a:off x="6217920" y="32004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Measure: Actual minus planned days</a:t>
            </a:r>
            <a:endParaRPr lang="en-US" sz="1200" dirty="0"/>
          </a:p>
        </p:txBody>
      </p:sp>
      <p:sp>
        <p:nvSpPr>
          <p:cNvPr id="19" name="Row 4"/>
          <p:cNvSpPr/>
          <p:nvPr/>
        </p:nvSpPr>
        <p:spPr>
          <a:xfrm>
            <a:off x="457200" y="3931920"/>
            <a:ext cx="822960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Badge 4"/>
          <p:cNvSpPr/>
          <p:nvPr/>
        </p:nvSpPr>
        <p:spPr>
          <a:xfrm>
            <a:off x="594360" y="4059936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Num 4"/>
          <p:cNvSpPr txBox="1"/>
          <p:nvPr/>
        </p:nvSpPr>
        <p:spPr>
          <a:xfrm>
            <a:off x="594360" y="4059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Action 4"/>
          <p:cNvSpPr txBox="1"/>
          <p:nvPr/>
        </p:nvSpPr>
        <p:spPr>
          <a:xfrm>
            <a:off x="1188720" y="397764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Review the scorecard and reorder points monthly</a:t>
            </a:r>
            <a:endParaRPr lang="en-US" sz="1400" dirty="0"/>
          </a:p>
        </p:txBody>
      </p:sp>
      <p:sp>
        <p:nvSpPr>
          <p:cNvPr id="23" name="Measure 4"/>
          <p:cNvSpPr txBox="1"/>
          <p:nvPr/>
        </p:nvSpPr>
        <p:spPr>
          <a:xfrm>
            <a:off x="6217920" y="39776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Measure: The dashboard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dashboard</a:t>
            </a:r>
            <a:endParaRPr lang="en-US" sz="3600" dirty="0"/>
          </a:p>
        </p:txBody>
      </p:sp>
      <p:sp>
        <p:nvSpPr>
          <p:cNvPr id="3" name="Takeaway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Three Power BI pages answer three questions. The report file is in the repository.</a:t>
            </a:r>
            <a:endParaRPr lang="en-US" sz="1600" dirty="0"/>
          </a:p>
        </p:txBody>
      </p:sp>
      <p:pic>
        <p:nvPicPr>
          <p:cNvPr id="4" name="Dashboard page 3" descr="/mnt/user-data/outputs/dashboard/page3_reor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5303520" cy="2932060"/>
          </a:xfrm>
          <a:prstGeom prst="rect">
            <a:avLst/>
          </a:prstGeom>
        </p:spPr>
      </p:pic>
      <p:pic>
        <p:nvPicPr>
          <p:cNvPr id="5" name="Dashboard page 1" descr="/mnt/user-data/outputs/dashboard/page1_produc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00200"/>
            <a:ext cx="2651760" cy="1484905"/>
          </a:xfrm>
          <a:prstGeom prst="rect">
            <a:avLst/>
          </a:prstGeom>
        </p:spPr>
      </p:pic>
      <p:pic>
        <p:nvPicPr>
          <p:cNvPr id="6" name="Dashboard page 2" descr="/mnt/user-data/outputs/dashboard/page2_suppli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246120"/>
            <a:ext cx="2651760" cy="147680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Limits and next steps</a:t>
            </a:r>
            <a:endParaRPr lang="en-US" sz="3600" dirty="0"/>
          </a:p>
        </p:txBody>
      </p:sp>
      <p:sp>
        <p:nvSpPr>
          <p:cNvPr id="3" name="Takeaway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Read the results as a worked method, not as facts about a real company. It applies to any business that holds stock.</a:t>
            </a:r>
            <a:endParaRPr lang="en-US" sz="1600" dirty="0"/>
          </a:p>
        </p:txBody>
      </p:sp>
      <p:sp>
        <p:nvSpPr>
          <p:cNvPr id="4" name="Card Limits"/>
          <p:cNvSpPr/>
          <p:nvPr/>
        </p:nvSpPr>
        <p:spPr>
          <a:xfrm>
            <a:off x="457200" y="1645920"/>
            <a:ext cx="393192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Head Limits"/>
          <p:cNvSpPr txBox="1"/>
          <p:nvPr/>
        </p:nvSpPr>
        <p:spPr>
          <a:xfrm>
            <a:off x="731520" y="1783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Limits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3172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Synthetic data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fixed exchange rate per currency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Formula assumes bell-shaped lead times; late deliveries have a long tail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Stockouts are linked to suppliers, not proven caused by them</a:t>
            </a:r>
            <a:endParaRPr lang="en-US" sz="1400" dirty="0"/>
          </a:p>
        </p:txBody>
      </p:sp>
      <p:sp>
        <p:nvSpPr>
          <p:cNvPr id="7" name="Card Next steps"/>
          <p:cNvSpPr/>
          <p:nvPr/>
        </p:nvSpPr>
        <p:spPr>
          <a:xfrm>
            <a:off x="4754880" y="1645920"/>
            <a:ext cx="393192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Head Next steps"/>
          <p:cNvSpPr txBox="1"/>
          <p:nvPr/>
        </p:nvSpPr>
        <p:spPr>
          <a:xfrm>
            <a:off x="5029200" y="1783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233172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Estimate the holding cost of the extra stock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Check lead times by quarter for every supplier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Repeat on a real, messier dataset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Reuse it where there are sales, lead times and stock levels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ventory">
  <a:themeElements>
    <a:clrScheme name="Inventory">
      <a:dk1>
        <a:srgbClr val="1F2937"/>
      </a:dk1>
      <a:lt1>
        <a:srgbClr val="FFFFFF"/>
      </a:lt1>
      <a:dk2>
        <a:srgbClr val="374151"/>
      </a:dk2>
      <a:lt2>
        <a:srgbClr val="F3F4F6"/>
      </a:lt2>
      <a:accent1>
        <a:srgbClr val="E8590C"/>
      </a:accent1>
      <a:accent2>
        <a:srgbClr val="2F6F8F"/>
      </a:accent2>
      <a:accent3>
        <a:srgbClr val="6B7280"/>
      </a:accent3>
      <a:accent4>
        <a:srgbClr val="2F9E6E"/>
      </a:accent4>
      <a:accent5>
        <a:srgbClr val="B45309"/>
      </a:accent5>
      <a:accent6>
        <a:srgbClr val="9CA3AF"/>
      </a:accent6>
      <a:hlink>
        <a:srgbClr val="2F6F8F"/>
      </a:hlink>
      <a:folHlink>
        <a:srgbClr val="6B7280"/>
      </a:folHlink>
    </a:clrScheme>
    <a:fontScheme name="Inventor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Inventory and Supplier Analysis</dc:title>
  <dc:subject>PptxGenJS Presentation</dc:subject>
  <dc:creator>PptxGenJS</dc:creator>
  <cp:lastModifiedBy>PptxGenJS</cp:lastModifiedBy>
  <cp:revision>1</cp:revision>
  <dcterms:created xsi:type="dcterms:W3CDTF">2026-10-18T09:49:26Z</dcterms:created>
  <dcterms:modified xsi:type="dcterms:W3CDTF">2026-10-18T09:49:26Z</dcterms:modified>
</cp:coreProperties>
</file>